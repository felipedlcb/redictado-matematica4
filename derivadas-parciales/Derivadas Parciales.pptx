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Patrick Hand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PatrickHan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60031788f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960031788f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960031788f_1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7436852" y="648650"/>
            <a:ext cx="63297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i="0" lang="en-US" sz="385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Derivadas Parciales </a:t>
            </a:r>
            <a:endParaRPr sz="385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t/>
            </a:r>
            <a:endParaRPr sz="385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t/>
            </a:r>
            <a:endParaRPr sz="385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lang="en-US" sz="385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-US" sz="265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ntegrantes</a:t>
            </a:r>
            <a:endParaRPr sz="265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lang="en-US" sz="265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Franco Cirielli</a:t>
            </a:r>
            <a:endParaRPr sz="265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lang="en-US" sz="265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Felipe De La Cuadra Bacci</a:t>
            </a:r>
            <a:endParaRPr sz="265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lang="en-US" sz="265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Facundo Feliú</a:t>
            </a:r>
            <a:endParaRPr sz="265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t/>
            </a:r>
            <a:endParaRPr sz="385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7294337" y="7059293"/>
            <a:ext cx="74160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Una exploración visual del cálculo multivariable y sus aplicaciones prácticas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8" name="Google Shape;58;p13" title="Captu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00" y="529250"/>
            <a:ext cx="6950075" cy="728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12508825" y="7454400"/>
            <a:ext cx="2121600" cy="7752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8FAF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864022" y="1587575"/>
            <a:ext cx="7453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i="0" lang="en-US" sz="385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¿Qué son las Derivadas Parciales?</a:t>
            </a:r>
            <a:endParaRPr i="0" sz="385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64037" y="2698433"/>
            <a:ext cx="4136231" cy="3943469"/>
          </a:xfrm>
          <a:prstGeom prst="roundRect">
            <a:avLst>
              <a:gd fmla="val 2629" name="adj"/>
            </a:avLst>
          </a:prstGeom>
          <a:solidFill>
            <a:srgbClr val="E6E6E6"/>
          </a:solidFill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1126093" y="2960489"/>
            <a:ext cx="740569" cy="740569"/>
          </a:xfrm>
          <a:prstGeom prst="roundRect">
            <a:avLst>
              <a:gd fmla="val 12346028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9690" y="3164086"/>
            <a:ext cx="333256" cy="3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1126093" y="3947874"/>
            <a:ext cx="24688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7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Extensión del Concepto</a:t>
            </a:r>
            <a:endParaRPr i="0" sz="17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126093" y="4404598"/>
            <a:ext cx="3612118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6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Son la extensión natural del concepto de derivada a funciones con múltiples variables independientes, permitiendo analizar cambios en dimensiones superiores.</a:t>
            </a:r>
            <a:endParaRPr i="0" sz="16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247084" y="2698433"/>
            <a:ext cx="4136231" cy="3943469"/>
          </a:xfrm>
          <a:prstGeom prst="roundRect">
            <a:avLst>
              <a:gd fmla="val 2629" name="adj"/>
            </a:avLst>
          </a:prstGeom>
          <a:solidFill>
            <a:srgbClr val="E6E6E6"/>
          </a:solidFill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5509141" y="2960489"/>
            <a:ext cx="740569" cy="740569"/>
          </a:xfrm>
          <a:prstGeom prst="roundRect">
            <a:avLst>
              <a:gd fmla="val 12346028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2738" y="3164086"/>
            <a:ext cx="333256" cy="3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5509141" y="3947874"/>
            <a:ext cx="24688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7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Análisis Selectivo</a:t>
            </a:r>
            <a:endParaRPr i="0" sz="17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509150" y="4456875"/>
            <a:ext cx="36120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6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Nos permiten estudiar cómo cambia una función cuando solo una de sus variables varía, manteniendo las demás constantes.</a:t>
            </a:r>
            <a:endParaRPr i="0" sz="16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9630132" y="2698433"/>
            <a:ext cx="4136231" cy="3943469"/>
          </a:xfrm>
          <a:prstGeom prst="roundRect">
            <a:avLst>
              <a:gd fmla="val 2629" name="adj"/>
            </a:avLst>
          </a:prstGeom>
          <a:solidFill>
            <a:srgbClr val="E6E6E6"/>
          </a:solidFill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9892189" y="2960489"/>
            <a:ext cx="740569" cy="740569"/>
          </a:xfrm>
          <a:prstGeom prst="roundRect">
            <a:avLst>
              <a:gd fmla="val 12346028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5786" y="3164086"/>
            <a:ext cx="333256" cy="3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9892189" y="3947874"/>
            <a:ext cx="24688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7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Notación Clave</a:t>
            </a:r>
            <a:endParaRPr i="0" sz="17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9892189" y="4404598"/>
            <a:ext cx="3612118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6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Se denota como ∂f/∂x (derivada parcial de f con respecto a x), usando el símbolo ∂ para distinguirla de la derivada ordinaria.</a:t>
            </a:r>
            <a:endParaRPr i="0" sz="16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12495400" y="7311000"/>
            <a:ext cx="2135100" cy="9186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864022" y="759750"/>
            <a:ext cx="7024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i="0" lang="en-US" sz="385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La Importancia en el Mundo Real</a:t>
            </a:r>
            <a:endParaRPr i="0" sz="385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864037" y="1747123"/>
            <a:ext cx="3584400" cy="2599200"/>
          </a:xfrm>
          <a:prstGeom prst="roundRect">
            <a:avLst>
              <a:gd fmla="val 3990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1141333" y="2024420"/>
            <a:ext cx="2468880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🔬</a:t>
            </a: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Ingeniería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1141333" y="2488763"/>
            <a:ext cx="3029903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7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Modelar fenómenos físicos complejos como temperatura, presión y flujo en sistemas multivariables.</a:t>
            </a:r>
            <a:endParaRPr i="0" sz="17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4695349" y="1747123"/>
            <a:ext cx="3584615" cy="2599134"/>
          </a:xfrm>
          <a:prstGeom prst="roundRect">
            <a:avLst>
              <a:gd fmla="val 3990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972645" y="2024420"/>
            <a:ext cx="2468880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📊</a:t>
            </a: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Economía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972645" y="2488763"/>
            <a:ext cx="3030022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7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Analizar cómo el precio y la cantidad afectan el costo o el beneficio en modelos económicos avanzados.</a:t>
            </a:r>
            <a:endParaRPr i="0" sz="17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864037" y="4593074"/>
            <a:ext cx="7415927" cy="1809036"/>
          </a:xfrm>
          <a:prstGeom prst="roundRect">
            <a:avLst>
              <a:gd fmla="val 5732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41333" y="4870371"/>
            <a:ext cx="2468880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🌍</a:t>
            </a: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Ciencias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1141333" y="5334714"/>
            <a:ext cx="686133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7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Comprender sistemas con múltiples factores influyentes en física, biología y química.</a:t>
            </a:r>
            <a:endParaRPr i="0" sz="17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864037" y="6679763"/>
            <a:ext cx="7415927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Son la base del cálculo multivariable y esencial para el análisis avanzado en todas las disciplinas científicas.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preencoded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864021" y="1531975"/>
            <a:ext cx="10193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lang="en-US" sz="385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¿</a:t>
            </a:r>
            <a:r>
              <a:rPr lang="en-US" sz="385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Cómo</a:t>
            </a:r>
            <a:r>
              <a:rPr lang="en-US" sz="385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resolvemos una Derivada Parcial?</a:t>
            </a:r>
            <a:endParaRPr i="0" sz="385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864037" y="5777044"/>
            <a:ext cx="12902400" cy="1049100"/>
          </a:xfrm>
          <a:prstGeom prst="roundRect">
            <a:avLst>
              <a:gd fmla="val 9884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849" y="6151501"/>
            <a:ext cx="385867" cy="30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1601950" y="6151500"/>
            <a:ext cx="12367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El proceso es similar a la derivación ordinaria, pero con la restricción de mantener constantes las variables no derivadas.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12830300" y="7021500"/>
            <a:ext cx="1800000" cy="12081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16"/>
          <p:cNvGrpSpPr/>
          <p:nvPr/>
        </p:nvGrpSpPr>
        <p:grpSpPr>
          <a:xfrm>
            <a:off x="864037" y="2642830"/>
            <a:ext cx="4300776" cy="2481144"/>
            <a:chOff x="864037" y="2642830"/>
            <a:chExt cx="4300776" cy="2481144"/>
          </a:xfrm>
        </p:grpSpPr>
        <p:pic>
          <p:nvPicPr>
            <p:cNvPr descr="preencoded.png" id="110" name="Google Shape;11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4037" y="2642830"/>
              <a:ext cx="4300776" cy="987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6"/>
            <p:cNvSpPr/>
            <p:nvPr/>
          </p:nvSpPr>
          <p:spPr>
            <a:xfrm>
              <a:off x="1110853" y="3877151"/>
              <a:ext cx="2468880" cy="308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315"/>
                </a:lnSpc>
                <a:spcBef>
                  <a:spcPts val="0"/>
                </a:spcBef>
                <a:spcAft>
                  <a:spcPts val="0"/>
                </a:spcAft>
                <a:buClr>
                  <a:srgbClr val="383838"/>
                </a:buClr>
                <a:buSzPts val="1900"/>
                <a:buFont typeface="Patrick Hand"/>
                <a:buNone/>
              </a:pPr>
              <a:r>
                <a:rPr lang="en-US" sz="1800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Regla Fundamental</a:t>
              </a:r>
              <a:endParaRPr sz="1800" cap="none" strike="noStrike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1110853" y="4333875"/>
              <a:ext cx="3807143" cy="790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383838"/>
                </a:buClr>
                <a:buSzPts val="1900"/>
                <a:buFont typeface="Patrick Hand"/>
                <a:buNone/>
              </a:pPr>
              <a:r>
                <a:rPr lang="en-US" sz="1800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Trata todas las variables excepto la que</a:t>
              </a:r>
              <a:r>
                <a:rPr lang="en-US" sz="1800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r>
                <a:rPr lang="en-US" sz="1800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estás derivando como constantes.</a:t>
              </a:r>
              <a:endParaRPr sz="1800" cap="none" strike="noStrike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2734227" y="2906150"/>
              <a:ext cx="455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2734225" y="2828025"/>
              <a:ext cx="560400" cy="617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E6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2714575" y="2867050"/>
              <a:ext cx="560400" cy="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/>
                <a:t>1</a:t>
              </a:r>
              <a:endParaRPr b="1" sz="2600"/>
            </a:p>
          </p:txBody>
        </p:sp>
      </p:grpSp>
      <p:grpSp>
        <p:nvGrpSpPr>
          <p:cNvPr id="116" name="Google Shape;116;p16"/>
          <p:cNvGrpSpPr/>
          <p:nvPr/>
        </p:nvGrpSpPr>
        <p:grpSpPr>
          <a:xfrm>
            <a:off x="5164812" y="2642830"/>
            <a:ext cx="4300776" cy="2481144"/>
            <a:chOff x="5164812" y="2642830"/>
            <a:chExt cx="4300776" cy="2481144"/>
          </a:xfrm>
        </p:grpSpPr>
        <p:pic>
          <p:nvPicPr>
            <p:cNvPr descr="preencoded.png" id="117" name="Google Shape;11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64812" y="2642830"/>
              <a:ext cx="4300776" cy="987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6"/>
            <p:cNvSpPr/>
            <p:nvPr/>
          </p:nvSpPr>
          <p:spPr>
            <a:xfrm>
              <a:off x="5411629" y="3877151"/>
              <a:ext cx="2468880" cy="308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315"/>
                </a:lnSpc>
                <a:spcBef>
                  <a:spcPts val="0"/>
                </a:spcBef>
                <a:spcAft>
                  <a:spcPts val="0"/>
                </a:spcAft>
                <a:buClr>
                  <a:srgbClr val="383838"/>
                </a:buClr>
                <a:buSzPts val="1900"/>
                <a:buFont typeface="Patrick Hand"/>
                <a:buNone/>
              </a:pPr>
              <a:r>
                <a:rPr i="0" lang="en-US" sz="1800" u="none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Respecto a x</a:t>
              </a:r>
              <a:endParaRPr i="0" sz="1800" u="none" cap="none" strike="noStrike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5411629" y="4333875"/>
              <a:ext cx="3807143" cy="790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383838"/>
                </a:buClr>
                <a:buSzPts val="1900"/>
                <a:buFont typeface="Patrick Hand"/>
                <a:buNone/>
              </a:pPr>
              <a:r>
                <a:rPr i="0" lang="en-US" sz="1800" u="none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∂f/∂x: Considera 'y' como una constante durante la derivación.</a:t>
              </a:r>
              <a:endParaRPr i="0" sz="1800" u="none" cap="none" strike="noStrike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7035013" y="2828038"/>
              <a:ext cx="560400" cy="617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E6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6945050" y="2867050"/>
              <a:ext cx="560400" cy="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/>
                <a:t>2</a:t>
              </a:r>
              <a:endParaRPr b="1" sz="2600"/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9465588" y="2640925"/>
            <a:ext cx="4300776" cy="2483049"/>
            <a:chOff x="9465588" y="2640925"/>
            <a:chExt cx="4300776" cy="2483049"/>
          </a:xfrm>
        </p:grpSpPr>
        <p:pic>
          <p:nvPicPr>
            <p:cNvPr descr="preencoded.png" id="123" name="Google Shape;123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465588" y="2640925"/>
              <a:ext cx="4300776" cy="991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6"/>
            <p:cNvSpPr/>
            <p:nvPr/>
          </p:nvSpPr>
          <p:spPr>
            <a:xfrm>
              <a:off x="9712404" y="3877151"/>
              <a:ext cx="2468880" cy="308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315"/>
                </a:lnSpc>
                <a:spcBef>
                  <a:spcPts val="0"/>
                </a:spcBef>
                <a:spcAft>
                  <a:spcPts val="0"/>
                </a:spcAft>
                <a:buClr>
                  <a:srgbClr val="383838"/>
                </a:buClr>
                <a:buSzPts val="1900"/>
                <a:buFont typeface="Patrick Hand"/>
                <a:buNone/>
              </a:pPr>
              <a:r>
                <a:rPr i="0" lang="en-US" sz="1800" u="none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Respecto a y</a:t>
              </a:r>
              <a:endParaRPr i="0" sz="1800" u="none" cap="none" strike="noStrike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9712404" y="4333875"/>
              <a:ext cx="3807143" cy="790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Clr>
                  <a:srgbClr val="383838"/>
                </a:buClr>
                <a:buSzPts val="1900"/>
                <a:buFont typeface="Patrick Hand"/>
                <a:buNone/>
              </a:pPr>
              <a:r>
                <a:rPr i="0" lang="en-US" sz="1800" u="none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∂f/∂y: Considera 'x' como una constante durante la derivación.</a:t>
              </a:r>
              <a:endParaRPr i="0" sz="1800" u="none" cap="none" strike="noStrike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1335775" y="2870200"/>
              <a:ext cx="560400" cy="617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E6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11175525" y="2867050"/>
              <a:ext cx="560400" cy="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/>
                <a:t>3</a:t>
              </a:r>
              <a:endParaRPr b="1" sz="26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864025" y="1594875"/>
            <a:ext cx="11543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i="0" lang="en-US" sz="385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Ejemplo 1: Derivada Parcial Simple </a:t>
            </a:r>
            <a:r>
              <a:rPr lang="en-US" sz="385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usando reglas</a:t>
            </a:r>
            <a:endParaRPr i="0" sz="385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864012" y="2793839"/>
            <a:ext cx="12902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Consideremos la función: </a:t>
            </a:r>
            <a:r>
              <a:rPr b="1"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f(x, y) = -3x² + 2(y – 3)²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864037" y="3580834"/>
            <a:ext cx="2469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Derivada respecto a x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864012" y="4105210"/>
            <a:ext cx="61500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Cambria"/>
              <a:buChar char="•"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Tratamos 2(y – 3)² como una constante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Cambria"/>
              <a:buChar char="•"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∂f/∂x = ∂/∂x (-3x²) + ∂/∂x (2(y – 3)²)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Cambria"/>
              <a:buChar char="•"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∂f/∂x = -6x + 0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900"/>
              <a:buFont typeface="Cambria"/>
              <a:buChar char="•"/>
            </a:pPr>
            <a:r>
              <a:rPr b="1" i="0" lang="en-US" sz="1900" u="none" cap="none" strike="noStrike">
                <a:solidFill>
                  <a:srgbClr val="CCCCCC"/>
                </a:solidFill>
                <a:latin typeface="Cambria"/>
                <a:ea typeface="Cambria"/>
                <a:cs typeface="Cambria"/>
                <a:sym typeface="Cambria"/>
              </a:rPr>
              <a:t>Resultado: -6x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623929" y="3580834"/>
            <a:ext cx="2469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Derivada respecto a y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7623929" y="4105210"/>
            <a:ext cx="61500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Cambria"/>
              <a:buChar char="•"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Tratamos -3x² como una constante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Cambria"/>
              <a:buChar char="•"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∂f/∂y = ∂/∂y (-3x²) + ∂/∂y (2(y – 3)²)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Cambria"/>
              <a:buChar char="•"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∂f/∂y = 0 + 2 · 2(y – 3) · 1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900"/>
              <a:buFont typeface="Cambria"/>
              <a:buChar char="•"/>
            </a:pPr>
            <a:r>
              <a:rPr b="1" i="0" lang="en-US" sz="1900" u="none" cap="none" strike="noStrike">
                <a:solidFill>
                  <a:srgbClr val="CCCCCC"/>
                </a:solidFill>
                <a:latin typeface="Cambria"/>
                <a:ea typeface="Cambria"/>
                <a:cs typeface="Cambria"/>
                <a:sym typeface="Cambria"/>
              </a:rPr>
              <a:t>Resultado: 4(y – 3)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2885500" y="7021500"/>
            <a:ext cx="1744800" cy="12081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F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7"/>
          <p:cNvGrpSpPr/>
          <p:nvPr/>
        </p:nvGrpSpPr>
        <p:grpSpPr>
          <a:xfrm>
            <a:off x="910950" y="6443975"/>
            <a:ext cx="12478200" cy="1049100"/>
            <a:chOff x="910950" y="6443975"/>
            <a:chExt cx="12478200" cy="1049100"/>
          </a:xfrm>
        </p:grpSpPr>
        <p:sp>
          <p:nvSpPr>
            <p:cNvPr id="141" name="Google Shape;141;p17"/>
            <p:cNvSpPr/>
            <p:nvPr/>
          </p:nvSpPr>
          <p:spPr>
            <a:xfrm>
              <a:off x="910950" y="6443975"/>
              <a:ext cx="12478200" cy="1049100"/>
            </a:xfrm>
            <a:prstGeom prst="roundRect">
              <a:avLst>
                <a:gd fmla="val 9884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      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       </a:t>
              </a:r>
              <a:r>
                <a:rPr lang="en-US" sz="1700">
                  <a:latin typeface="Cambria"/>
                  <a:ea typeface="Cambria"/>
                  <a:cs typeface="Cambria"/>
                  <a:sym typeface="Cambria"/>
                </a:rPr>
                <a:t>Se puede utilizar las reglas de </a:t>
              </a:r>
              <a:r>
                <a:rPr lang="en-US" sz="1700">
                  <a:latin typeface="Cambria"/>
                  <a:ea typeface="Cambria"/>
                  <a:cs typeface="Cambria"/>
                  <a:sym typeface="Cambria"/>
                </a:rPr>
                <a:t>derivación</a:t>
              </a:r>
              <a:r>
                <a:rPr lang="en-US" sz="1700">
                  <a:latin typeface="Cambria"/>
                  <a:ea typeface="Cambria"/>
                  <a:cs typeface="Cambria"/>
                  <a:sym typeface="Cambria"/>
                </a:rPr>
                <a:t> siempre que las derivadas parciales sean funciones continuas en el dominio analizado</a:t>
              </a:r>
              <a:r>
                <a:rPr lang="en-US" sz="1300"/>
                <a:t>   </a:t>
              </a:r>
              <a:endParaRPr sz="13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        </a:t>
              </a:r>
              <a:endParaRPr/>
            </a:p>
          </p:txBody>
        </p:sp>
        <p:pic>
          <p:nvPicPr>
            <p:cNvPr descr="preencoded.png" id="142" name="Google Shape;14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0874" y="6814226"/>
              <a:ext cx="385867" cy="308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687700" y="1482675"/>
            <a:ext cx="76635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2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050"/>
              <a:buFont typeface="Patrick Hand"/>
              <a:buNone/>
            </a:pPr>
            <a:r>
              <a:rPr i="0" lang="en-US" sz="295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Derivando por Definición: El Límite en Acción</a:t>
            </a:r>
            <a:endParaRPr i="0" sz="295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687700" y="2208498"/>
            <a:ext cx="94176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Patrick Hand"/>
              <a:buNone/>
            </a:pPr>
            <a:r>
              <a:rPr i="0" lang="en-US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La definición formal de la derivada parcial utiliza el concepto de límite para capturar el cambio infinitesimal:</a:t>
            </a:r>
            <a:endParaRPr i="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687705" y="2666524"/>
            <a:ext cx="7768590" cy="1944886"/>
          </a:xfrm>
          <a:prstGeom prst="roundRect">
            <a:avLst>
              <a:gd fmla="val 5642" name="adj"/>
            </a:avLst>
          </a:prstGeom>
          <a:solidFill>
            <a:srgbClr val="F7F7F7"/>
          </a:solidFill>
          <a:ln cap="flat" cmpd="sng" w="228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664850" y="2666525"/>
            <a:ext cx="91500" cy="1944900"/>
          </a:xfrm>
          <a:prstGeom prst="roundRect">
            <a:avLst>
              <a:gd fmla="val 90252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975598" y="2885837"/>
            <a:ext cx="1964888" cy="245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Patrick Hand"/>
              <a:buNone/>
            </a:pPr>
            <a:r>
              <a:rPr i="0" lang="en-US" sz="15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Respecto a x</a:t>
            </a:r>
            <a:endParaRPr i="0" sz="15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975598" y="3329226"/>
            <a:ext cx="7261384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b="0" i="0" sz="1700" u="none" cap="none" strike="noStrike"/>
          </a:p>
        </p:txBody>
      </p:sp>
      <p:pic>
        <p:nvPicPr>
          <p:cNvPr descr="preencoded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598" y="3329226"/>
            <a:ext cx="7261384" cy="58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975600" y="4109925"/>
            <a:ext cx="7915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Patrick Hand"/>
              <a:buNone/>
            </a:pPr>
            <a:r>
              <a:rPr i="0" lang="en-US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Este límite nos muestra el cambio instantáneo en la función cuando x varía infinitesimalmente.</a:t>
            </a:r>
            <a:endParaRPr i="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87705" y="4767739"/>
            <a:ext cx="7768590" cy="1979176"/>
          </a:xfrm>
          <a:prstGeom prst="roundRect">
            <a:avLst>
              <a:gd fmla="val 5544" name="adj"/>
            </a:avLst>
          </a:prstGeom>
          <a:solidFill>
            <a:srgbClr val="F7F7F7"/>
          </a:solidFill>
          <a:ln cap="flat" cmpd="sng" w="228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64845" y="4767739"/>
            <a:ext cx="91440" cy="1979176"/>
          </a:xfrm>
          <a:prstGeom prst="roundRect">
            <a:avLst>
              <a:gd fmla="val 90252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975598" y="4987052"/>
            <a:ext cx="1964888" cy="245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Patrick Hand"/>
              <a:buNone/>
            </a:pPr>
            <a:r>
              <a:rPr b="0" i="0" lang="en-US" sz="15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Respecto a y</a:t>
            </a:r>
            <a:endParaRPr b="0" i="0" sz="150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>
            <a:off x="975598" y="5430441"/>
            <a:ext cx="7261384" cy="617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b="0" i="0" sz="1700" u="none" cap="none" strike="noStrike"/>
          </a:p>
        </p:txBody>
      </p:sp>
      <p:pic>
        <p:nvPicPr>
          <p:cNvPr descr="preencoded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5598" y="5430441"/>
            <a:ext cx="7261384" cy="6171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975598" y="6245423"/>
            <a:ext cx="7261384" cy="282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Patrick Hand"/>
              <a:buNone/>
            </a:pPr>
            <a:r>
              <a:rPr b="0" i="0" lang="en-US" sz="15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Similarmente, este límite captura el cambio cuando y varía infinitesimalmente.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864020" y="1043450"/>
            <a:ext cx="7933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i="0" lang="en-US" sz="375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Ejemplo 2: Usando la Definición</a:t>
            </a:r>
            <a:endParaRPr i="0" sz="375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864012" y="1828088"/>
            <a:ext cx="12902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Analicemos la función </a:t>
            </a:r>
            <a:r>
              <a:rPr b="1"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f(x, y) = xy</a:t>
            </a: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usando la definición formal: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744212" y="2525332"/>
            <a:ext cx="2469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Derivada respecto a x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204075" y="3066125"/>
            <a:ext cx="3738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Cambria"/>
              <a:buAutoNum type="arabicPeriod"/>
            </a:pP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lim (h→0) (x + h)y - xy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mbria"/>
                <a:ea typeface="Cambria"/>
                <a:cs typeface="Cambria"/>
                <a:sym typeface="Cambria"/>
              </a:rPr>
              <a:t>                     h</a:t>
            </a:r>
            <a:endParaRPr i="0" sz="19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7724604" y="2525382"/>
            <a:ext cx="2469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Derivada respecto a y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44212" y="7625641"/>
            <a:ext cx="12902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t/>
            </a:r>
            <a:endParaRPr b="0" i="0" sz="1900" u="none" cap="none" strike="noStrike"/>
          </a:p>
        </p:txBody>
      </p:sp>
      <p:cxnSp>
        <p:nvCxnSpPr>
          <p:cNvPr id="174" name="Google Shape;174;p19"/>
          <p:cNvCxnSpPr/>
          <p:nvPr/>
        </p:nvCxnSpPr>
        <p:spPr>
          <a:xfrm flipH="1" rot="10800000">
            <a:off x="2409600" y="3478313"/>
            <a:ext cx="1496700" cy="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9"/>
          <p:cNvSpPr/>
          <p:nvPr/>
        </p:nvSpPr>
        <p:spPr>
          <a:xfrm>
            <a:off x="958550" y="3678750"/>
            <a:ext cx="37386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83838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  </a:t>
            </a: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i="0" lang="en-US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lim (h→0)     xy + hy - xy </a:t>
            </a:r>
            <a:endParaRPr i="0" sz="1900" u="none" cap="none" strike="noStrike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 h</a:t>
            </a:r>
            <a:endParaRPr sz="190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  </a:t>
            </a:r>
            <a:endParaRPr sz="1900"/>
          </a:p>
          <a:p>
            <a:pPr indent="0" lvl="0" marL="4572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6" name="Google Shape;176;p19"/>
          <p:cNvSpPr txBox="1"/>
          <p:nvPr/>
        </p:nvSpPr>
        <p:spPr>
          <a:xfrm>
            <a:off x="744200" y="62039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CCCCC"/>
                </a:solidFill>
                <a:latin typeface="Cambria"/>
                <a:ea typeface="Cambria"/>
                <a:cs typeface="Cambria"/>
                <a:sym typeface="Cambria"/>
              </a:rPr>
              <a:t>Resultado: 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77" name="Google Shape;177;p19"/>
          <p:cNvCxnSpPr/>
          <p:nvPr/>
        </p:nvCxnSpPr>
        <p:spPr>
          <a:xfrm flipH="1" rot="10800000">
            <a:off x="2409600" y="4548225"/>
            <a:ext cx="1496700" cy="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8" name="Google Shape;178;p19"/>
          <p:cNvGrpSpPr/>
          <p:nvPr/>
        </p:nvGrpSpPr>
        <p:grpSpPr>
          <a:xfrm>
            <a:off x="1195100" y="4789625"/>
            <a:ext cx="3265500" cy="1353600"/>
            <a:chOff x="2458100" y="5877400"/>
            <a:chExt cx="3265500" cy="1353600"/>
          </a:xfrm>
        </p:grpSpPr>
        <p:sp>
          <p:nvSpPr>
            <p:cNvPr id="179" name="Google Shape;179;p19"/>
            <p:cNvSpPr/>
            <p:nvPr/>
          </p:nvSpPr>
          <p:spPr>
            <a:xfrm>
              <a:off x="2458100" y="5877400"/>
              <a:ext cx="3265500" cy="13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45720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/>
                <a:t>                   </a:t>
              </a:r>
              <a:endParaRPr b="0" i="0" sz="1900" u="none" cap="none" strike="noStrike"/>
            </a:p>
            <a:p>
              <a:pPr indent="0" lvl="0" marL="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3. </a:t>
              </a:r>
              <a:r>
                <a:rPr i="0" lang="en-US" sz="1900" u="none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lim (h→0)        </a:t>
              </a:r>
              <a:r>
                <a:rPr lang="en-US" sz="1900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r>
                <a:rPr i="0" lang="en-US" sz="1900" u="none" cap="none" strike="noStrike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hy</a:t>
              </a:r>
              <a:endParaRPr i="0" sz="19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457200" marR="0" rtl="0" algn="l">
                <a:lnSpc>
                  <a:spcPct val="1631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383838"/>
                  </a:solidFill>
                  <a:latin typeface="Cambria"/>
                  <a:ea typeface="Cambria"/>
                  <a:cs typeface="Cambria"/>
                  <a:sym typeface="Cambria"/>
                </a:rPr>
                <a:t>                         h</a:t>
              </a:r>
              <a:endParaRPr i="0" sz="1900" u="none" cap="none" strike="noStrike">
                <a:latin typeface="Cambria"/>
                <a:ea typeface="Cambria"/>
                <a:cs typeface="Cambria"/>
                <a:sym typeface="Cambria"/>
              </a:endParaRPr>
            </a:p>
          </p:txBody>
        </p:sp>
        <p:cxnSp>
          <p:nvCxnSpPr>
            <p:cNvPr id="180" name="Google Shape;180;p19"/>
            <p:cNvCxnSpPr/>
            <p:nvPr/>
          </p:nvCxnSpPr>
          <p:spPr>
            <a:xfrm flipH="1" rot="10800000">
              <a:off x="3672600" y="6768375"/>
              <a:ext cx="1496700" cy="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1" name="Google Shape;181;p19"/>
          <p:cNvSpPr txBox="1"/>
          <p:nvPr/>
        </p:nvSpPr>
        <p:spPr>
          <a:xfrm>
            <a:off x="10092800" y="2844338"/>
            <a:ext cx="3157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Cambria"/>
              <a:buAutoNum type="arabicPeriod"/>
            </a:pP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lim (k→0)    x(y + k) - xy</a:t>
            </a:r>
            <a:endParaRPr sz="190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</a:t>
            </a: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	      </a:t>
            </a: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10171550" y="5347788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3.  </a:t>
            </a: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lim (k→0)      xk </a:t>
            </a:r>
            <a:endParaRPr sz="190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10092800" y="4061263"/>
            <a:ext cx="7248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2.   </a:t>
            </a: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lim (k→0)   xy + xk - xy  </a:t>
            </a:r>
            <a:endParaRPr sz="1900">
              <a:solidFill>
                <a:srgbClr val="3838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   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10092800" y="62838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CCCCC"/>
                </a:solidFill>
                <a:latin typeface="Cambria"/>
                <a:ea typeface="Cambria"/>
                <a:cs typeface="Cambria"/>
                <a:sym typeface="Cambria"/>
              </a:rPr>
              <a:t>Resultado: x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85" name="Google Shape;185;p19"/>
          <p:cNvCxnSpPr/>
          <p:nvPr/>
        </p:nvCxnSpPr>
        <p:spPr>
          <a:xfrm>
            <a:off x="11712525" y="3321488"/>
            <a:ext cx="133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9"/>
          <p:cNvCxnSpPr/>
          <p:nvPr/>
        </p:nvCxnSpPr>
        <p:spPr>
          <a:xfrm flipH="1" rot="10800000">
            <a:off x="11636325" y="4556638"/>
            <a:ext cx="1346400" cy="1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9"/>
          <p:cNvCxnSpPr/>
          <p:nvPr/>
        </p:nvCxnSpPr>
        <p:spPr>
          <a:xfrm>
            <a:off x="11636325" y="5824938"/>
            <a:ext cx="817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19"/>
          <p:cNvSpPr/>
          <p:nvPr/>
        </p:nvSpPr>
        <p:spPr>
          <a:xfrm>
            <a:off x="12582075" y="7406200"/>
            <a:ext cx="2048400" cy="8235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864025" y="880100"/>
            <a:ext cx="7873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850"/>
              <a:buFont typeface="Patrick Hand"/>
              <a:buNone/>
            </a:pPr>
            <a:r>
              <a:rPr i="0" lang="en-US" sz="365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Reglas Avanzadas: Producto y Cadena</a:t>
            </a:r>
            <a:endParaRPr i="0" sz="365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864037" y="1867495"/>
            <a:ext cx="7415927" cy="2782372"/>
          </a:xfrm>
          <a:prstGeom prst="roundRect">
            <a:avLst>
              <a:gd fmla="val 3727" name="adj"/>
            </a:avLst>
          </a:prstGeom>
          <a:solidFill>
            <a:srgbClr val="E6E6E6"/>
          </a:solidFill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126093" y="2129552"/>
            <a:ext cx="2468880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📚</a:t>
            </a: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Regla del Producto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126093" y="2593896"/>
            <a:ext cx="689181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Se aplica igual que en derivadas ordinarias, tratando las otras variables como constantes: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126093" y="3696414"/>
            <a:ext cx="6891814" cy="691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SzPts val="2150"/>
              <a:buFont typeface="Arial"/>
              <a:buNone/>
            </a:pPr>
            <a:r>
              <a:t/>
            </a:r>
            <a:endParaRPr b="0" i="0" sz="2150" u="none" cap="none" strike="noStrike"/>
          </a:p>
        </p:txBody>
      </p:sp>
      <p:pic>
        <p:nvPicPr>
          <p:cNvPr descr="preencoded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6093" y="3696414"/>
            <a:ext cx="6891814" cy="69139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/>
          <p:nvPr/>
        </p:nvSpPr>
        <p:spPr>
          <a:xfrm>
            <a:off x="864037" y="4896683"/>
            <a:ext cx="7415927" cy="2452688"/>
          </a:xfrm>
          <a:prstGeom prst="roundRect">
            <a:avLst>
              <a:gd fmla="val 4228" name="adj"/>
            </a:avLst>
          </a:prstGeom>
          <a:solidFill>
            <a:srgbClr val="E6E6E6"/>
          </a:solidFill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126093" y="5158740"/>
            <a:ext cx="2468880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 Regla de la Cadena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126093" y="5623084"/>
            <a:ext cx="689181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i="0" lang="en-US" sz="1800" u="none" cap="none" strike="noStrike">
                <a:solidFill>
                  <a:srgbClr val="383838"/>
                </a:solidFill>
                <a:latin typeface="Cambria"/>
                <a:ea typeface="Cambria"/>
                <a:cs typeface="Cambria"/>
                <a:sym typeface="Cambria"/>
              </a:rPr>
              <a:t>Si f(x, y) depende de t a través de x(t) y y(t), entonces:</a:t>
            </a:r>
            <a:endParaRPr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126093" y="6330553"/>
            <a:ext cx="6891814" cy="75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SzPts val="2150"/>
              <a:buFont typeface="Arial"/>
              <a:buNone/>
            </a:pPr>
            <a:r>
              <a:t/>
            </a:r>
            <a:endParaRPr b="0" i="0" sz="2150" u="none" cap="none" strike="noStrike"/>
          </a:p>
        </p:txBody>
      </p:sp>
      <p:pic>
        <p:nvPicPr>
          <p:cNvPr descr="preencoded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6093" y="6330553"/>
            <a:ext cx="6891814" cy="756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6350437" y="2393156"/>
            <a:ext cx="24681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b="0" i="0" lang="en-US" sz="19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01</a:t>
            </a:r>
            <a:endParaRPr b="0" i="0" sz="1900" u="none" cap="none" strike="noStrike"/>
          </a:p>
        </p:txBody>
      </p:sp>
      <p:sp>
        <p:nvSpPr>
          <p:cNvPr id="213" name="Google Shape;213;p21"/>
          <p:cNvSpPr/>
          <p:nvPr/>
        </p:nvSpPr>
        <p:spPr>
          <a:xfrm>
            <a:off x="6350437" y="2782253"/>
            <a:ext cx="3584496" cy="30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10181749" y="2393156"/>
            <a:ext cx="24681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b="0" i="0" lang="en-US" sz="19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02</a:t>
            </a:r>
            <a:endParaRPr b="0" i="0" sz="1900" u="none" cap="none" strike="noStrike"/>
          </a:p>
        </p:txBody>
      </p:sp>
      <p:sp>
        <p:nvSpPr>
          <p:cNvPr id="215" name="Google Shape;215;p21"/>
          <p:cNvSpPr/>
          <p:nvPr/>
        </p:nvSpPr>
        <p:spPr>
          <a:xfrm>
            <a:off x="10181749" y="2782253"/>
            <a:ext cx="3584615" cy="30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6350437" y="5435441"/>
            <a:ext cx="24681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atrick Hand"/>
              <a:buNone/>
            </a:pPr>
            <a:r>
              <a:rPr b="0" i="0" lang="en-US" sz="19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03</a:t>
            </a:r>
            <a:endParaRPr b="0" i="0" sz="1900" u="none" cap="none" strike="noStrike"/>
          </a:p>
        </p:txBody>
      </p:sp>
      <p:sp>
        <p:nvSpPr>
          <p:cNvPr id="217" name="Google Shape;217;p21"/>
          <p:cNvSpPr/>
          <p:nvPr/>
        </p:nvSpPr>
        <p:spPr>
          <a:xfrm>
            <a:off x="6350437" y="5824538"/>
            <a:ext cx="7415927" cy="30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12658975" y="7575250"/>
            <a:ext cx="1971300" cy="6543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